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66" r:id="rId17"/>
    <p:sldId id="265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F2354A-A12C-4E9B-BB12-B8800B2731A6}">
  <a:tblStyle styleId="{ADF2354A-A12C-4E9B-BB12-B8800B2731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362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8810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22338" y="1630363"/>
            <a:ext cx="10431462" cy="103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chemeClr val="dk1"/>
              </a:buClr>
              <a:buSzPts val="8000"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An Intelligent Phishing Website Detection System Using Machine Learning for Enhanced Web Security</a:t>
            </a:r>
            <a:endParaRPr lang="en-US" sz="2800" b="1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2871787"/>
            <a:ext cx="9144000" cy="202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80000"/>
              </a:lnSpc>
            </a:pPr>
            <a:r>
              <a:rPr lang="en-IN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CSA5117 – 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Cryptography and Network Security</a:t>
            </a:r>
          </a:p>
          <a:p>
            <a:pPr marL="0" lvl="0" indent="0">
              <a:lnSpc>
                <a:spcPct val="80000"/>
              </a:lnSpc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Faculty : 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Dr. R. Dharani, Professor/Edge Computing, </a:t>
            </a:r>
          </a:p>
          <a:p>
            <a:pPr marL="0" indent="0">
              <a:lnSpc>
                <a:spcPct val="80000"/>
              </a:lnSpc>
            </a:pPr>
            <a:endParaRPr lang="en-US" sz="2400" i="0" u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Engineering, SIMATS</a:t>
            </a:r>
            <a:endParaRPr b="1" dirty="0"/>
          </a:p>
        </p:txBody>
      </p:sp>
      <p:pic>
        <p:nvPicPr>
          <p:cNvPr id="90" name="Google Shape;90;p13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1262" y="169862"/>
            <a:ext cx="10037762" cy="103028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/29/2026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14B7C8-707A-081A-422E-713996B6B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75464"/>
              </p:ext>
            </p:extLst>
          </p:nvPr>
        </p:nvGraphicFramePr>
        <p:xfrm>
          <a:off x="8397724" y="4885544"/>
          <a:ext cx="3386137" cy="1173575"/>
        </p:xfrm>
        <a:graphic>
          <a:graphicData uri="http://schemas.openxmlformats.org/drawingml/2006/table">
            <a:tbl>
              <a:tblPr/>
              <a:tblGrid>
                <a:gridCol w="760930">
                  <a:extLst>
                    <a:ext uri="{9D8B030D-6E8A-4147-A177-3AD203B41FA5}">
                      <a16:colId xmlns:a16="http://schemas.microsoft.com/office/drawing/2014/main" val="720188414"/>
                    </a:ext>
                  </a:extLst>
                </a:gridCol>
                <a:gridCol w="2625207">
                  <a:extLst>
                    <a:ext uri="{9D8B030D-6E8A-4147-A177-3AD203B41FA5}">
                      <a16:colId xmlns:a16="http://schemas.microsoft.com/office/drawing/2014/main" val="868539083"/>
                    </a:ext>
                  </a:extLst>
                </a:gridCol>
              </a:tblGrid>
              <a:tr h="3521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192311228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T SANHITH 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65629"/>
                  </a:ext>
                </a:extLst>
              </a:tr>
              <a:tr h="4106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192565085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DANIEL JESURAJI J 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60175"/>
                  </a:ext>
                </a:extLst>
              </a:tr>
              <a:tr h="4106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192312208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SHAIK SHOUIB AKTHAR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0733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 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38200" y="1463316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Introduction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Literature Review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Problem Statement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Objectives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Proposed Methodology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Dataset Description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Machine Learning Model 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Results &amp; Discussion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Applications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Future Enhancements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dirty="0"/>
              <a:t>Conclusion</a:t>
            </a:r>
            <a:endParaRPr dirty="0"/>
          </a:p>
        </p:txBody>
      </p:sp>
      <p:pic>
        <p:nvPicPr>
          <p:cNvPr id="100" name="Google Shape;100;p14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237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838200" y="1402931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online services has increased phishing attacks that steal sensitive user information through fake websites.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intelligent phishing website detection system using Machine Learning.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analyses website features extracted from URLs and webpage properties to classify websites as Legitimate or Phishing.</a:t>
            </a:r>
          </a:p>
          <a:p>
            <a:pPr marL="114300" indent="0" algn="just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provides: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(0–100) 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Human-readable explanations 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Extension for real-time detection 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improve cybersecurity and protect users from phishing attacks.</a:t>
            </a:r>
          </a:p>
        </p:txBody>
      </p:sp>
      <p:pic>
        <p:nvPicPr>
          <p:cNvPr id="110" name="Google Shape;110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237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838200" y="1463316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cyberattack where attackers create fake websites that imitate legitimate websites to steal sensitive user information such as usernames, passwords, banking credentials, and personal data. 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online banking, e-commerce, and digital services, phishing attacks have become more sophisticated and difficult to detect. 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phishing detection methods, such as blacklist-based systems, are ineffective against newly created (zero-day) phishing websites. 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intelligent detection by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various website characteristics and identifying phishing websites based on learned patterns rather than relying only on known malicious URLs.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838200" y="1420183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400" b="1" dirty="0"/>
              <a:t>Need for the Proposed System</a:t>
            </a:r>
          </a:p>
          <a:p>
            <a:r>
              <a:rPr lang="en-IN" sz="2400" dirty="0"/>
              <a:t>Develop an intelligent phishing website detection system using Machine Learning algorithms. </a:t>
            </a:r>
          </a:p>
          <a:p>
            <a:r>
              <a:rPr lang="en-IN" sz="2400" dirty="0" err="1"/>
              <a:t>Analyze</a:t>
            </a:r>
            <a:r>
              <a:rPr lang="en-IN" sz="2400" dirty="0"/>
              <a:t> multiple website features such as URL structure, domain information, HTML content, and webpage characteristics. </a:t>
            </a:r>
          </a:p>
          <a:p>
            <a:r>
              <a:rPr lang="en-IN" sz="2400" dirty="0"/>
              <a:t>Predict whether a website is </a:t>
            </a:r>
            <a:r>
              <a:rPr lang="en-IN" sz="2400" b="1" dirty="0"/>
              <a:t>Legitimate</a:t>
            </a:r>
            <a:r>
              <a:rPr lang="en-IN" sz="2400" dirty="0"/>
              <a:t> or </a:t>
            </a:r>
            <a:r>
              <a:rPr lang="en-IN" sz="2400" b="1" dirty="0"/>
              <a:t>Phishing</a:t>
            </a:r>
            <a:r>
              <a:rPr lang="en-IN" sz="2400" dirty="0"/>
              <a:t> with high accuracy. </a:t>
            </a:r>
          </a:p>
          <a:p>
            <a:r>
              <a:rPr lang="en-IN" sz="2400" dirty="0"/>
              <a:t>Provide </a:t>
            </a:r>
            <a:r>
              <a:rPr lang="en-IN" sz="2400" b="1" dirty="0"/>
              <a:t>Explainable AI (SHAP)</a:t>
            </a:r>
            <a:r>
              <a:rPr lang="en-IN" sz="2400" dirty="0"/>
              <a:t> to help users understand why a website was classified as phishing. </a:t>
            </a:r>
          </a:p>
          <a:p>
            <a:r>
              <a:rPr lang="en-IN" sz="2400" dirty="0"/>
              <a:t>Generate a </a:t>
            </a:r>
            <a:r>
              <a:rPr lang="en-IN" sz="2400" b="1" dirty="0"/>
              <a:t>Risk Score (0–100)</a:t>
            </a:r>
            <a:r>
              <a:rPr lang="en-IN" sz="2400" dirty="0"/>
              <a:t> and </a:t>
            </a:r>
            <a:r>
              <a:rPr lang="en-IN" sz="2400" b="1" dirty="0"/>
              <a:t>Confidence Score</a:t>
            </a:r>
            <a:r>
              <a:rPr lang="en-IN" sz="2400" dirty="0"/>
              <a:t> for better decision-making. </a:t>
            </a:r>
          </a:p>
          <a:p>
            <a:r>
              <a:rPr lang="en-IN" sz="2400" dirty="0"/>
              <a:t>Deploy the solution as a </a:t>
            </a:r>
            <a:r>
              <a:rPr lang="en-IN" sz="2400" b="1" dirty="0" err="1"/>
              <a:t>FastAPI</a:t>
            </a:r>
            <a:r>
              <a:rPr lang="en-IN" sz="2400" b="1" dirty="0"/>
              <a:t> web application</a:t>
            </a:r>
            <a:r>
              <a:rPr lang="en-IN" sz="2400" dirty="0"/>
              <a:t> and </a:t>
            </a:r>
            <a:r>
              <a:rPr lang="en-IN" sz="2400" b="1" dirty="0"/>
              <a:t>Chrome Extension</a:t>
            </a:r>
            <a:r>
              <a:rPr lang="en-IN" sz="2400" dirty="0"/>
              <a:t> for real-time phishing detection.</a:t>
            </a: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17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32" name="Google Shape;132;p17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/>
          </a:p>
        </p:txBody>
      </p:sp>
      <p:pic>
        <p:nvPicPr>
          <p:cNvPr id="139" name="Google Shape;139;p18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562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42" name="Google Shape;142;p18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93353-57C3-35E7-F27A-F9F44F713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864" y="1174362"/>
            <a:ext cx="9420834" cy="557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dirty="0"/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websites are increasing rapidly and pose serious cybersecurity threats.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blacklist and rule-based methods fail to detect newly created phishing websites.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lack transparency and do not explain their predictions.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 real-time, accurate, and explainable phishing detection system using Machine Learning.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0" name="Google Shape;150;p19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CAPSTONE PROJECT </a:t>
            </a:r>
            <a:endParaRPr dirty="0"/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Learning-based phishing website detection system. Improve phishing detection accuracy using advanced ML algorithms.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feature engineering and model optimization on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PhiUSIIL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 Provide explainable predictions using SHAP.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confidence and risk scores for each website.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 application and Chrome Extension for real-time phishing detection.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0" name="Google Shape;160;p20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62" name="Google Shape;162;p20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72" name="Google Shape;172;p21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CE2973-03BC-878C-CA3A-0D1B03447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876300"/>
            <a:ext cx="10118141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chemeClr val="dk1"/>
              </a:buClr>
              <a:buSzPts val="4000"/>
            </a:pPr>
            <a:r>
              <a:rPr lang="en-IN" sz="4000" dirty="0"/>
              <a:t>DESCRIPTION ABOUT THE DATASETS USED</a:t>
            </a:r>
            <a:endParaRPr dirty="0"/>
          </a:p>
        </p:txBody>
      </p:sp>
      <p:sp>
        <p:nvSpPr>
          <p:cNvPr id="198" name="Google Shape;198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709249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PhiUSIIL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Phishing URL Dataset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publicly available cybersecurity dataset designed for phishing website detection using Machine Learning techniques.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contains a comprehensive collection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and phishing websites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website-related features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 from URLs, webpage structure, and security characteristics.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235,795 website samples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consisting of approximately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134,850 legitimate websites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100,945 phishing websites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supervised classification tasks.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9" name="Google Shape;199;p24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01" name="Google Shape;201;p2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D159A-3CF5-07A9-1F9D-5E9DE2094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755" y="1758950"/>
            <a:ext cx="5752246" cy="3847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1: </a:t>
            </a:r>
            <a:r>
              <a:rPr lang="en-IN" b="1" dirty="0"/>
              <a:t>Data Collection &amp; Preprocessing</a:t>
            </a:r>
            <a:endParaRPr b="1" dirty="0"/>
          </a:p>
        </p:txBody>
      </p:sp>
      <p:sp>
        <p:nvSpPr>
          <p:cNvPr id="208" name="Google Shape;20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553309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PhiUSIIL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Phishing URL Dataset.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data cleaning by handling missing values and duplicate records.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feature engineering to improve feature quality.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relevant features for model training. Split the dataset into training and testing sets.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 numerical features using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" name="Google Shape;209;p2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11" name="Google Shape;211;p2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F40D0-9926-B00B-EB57-0901240C0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405" y="1440521"/>
            <a:ext cx="3304057" cy="54174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title"/>
          </p:nvPr>
        </p:nvSpPr>
        <p:spPr>
          <a:xfrm>
            <a:off x="-533400" y="796925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IN" sz="3600" dirty="0"/>
              <a:t>Module : 2 Machine Learning </a:t>
            </a:r>
            <a:br>
              <a:rPr lang="en-IN" sz="3600" dirty="0"/>
            </a:br>
            <a:r>
              <a:rPr lang="en-IN" sz="3600" dirty="0"/>
              <a:t>Model Development</a:t>
            </a:r>
            <a:endParaRPr sz="3600" dirty="0"/>
          </a:p>
        </p:txBody>
      </p:sp>
      <p:sp>
        <p:nvSpPr>
          <p:cNvPr id="218" name="Google Shape;218;p26"/>
          <p:cNvSpPr txBox="1">
            <a:spLocks noGrp="1"/>
          </p:cNvSpPr>
          <p:nvPr>
            <p:ph type="body" idx="1"/>
          </p:nvPr>
        </p:nvSpPr>
        <p:spPr>
          <a:xfrm>
            <a:off x="509127" y="2005013"/>
            <a:ext cx="7177009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400" dirty="0"/>
              <a:t>Train multiple Machine Learning algorithms. Compare model performance. Evaluate using: Accuracy </a:t>
            </a:r>
          </a:p>
          <a:p>
            <a:r>
              <a:rPr lang="en-IN" sz="2400" dirty="0"/>
              <a:t>Precision </a:t>
            </a:r>
          </a:p>
          <a:p>
            <a:r>
              <a:rPr lang="en-IN" sz="2400" dirty="0"/>
              <a:t>Recall </a:t>
            </a:r>
          </a:p>
          <a:p>
            <a:r>
              <a:rPr lang="en-IN" sz="2400" dirty="0"/>
              <a:t>F1-Score </a:t>
            </a:r>
          </a:p>
          <a:p>
            <a:r>
              <a:rPr lang="en-IN" sz="2400" dirty="0"/>
              <a:t>ROC-AUC </a:t>
            </a:r>
          </a:p>
          <a:p>
            <a:r>
              <a:rPr lang="en-IN" sz="2400" dirty="0"/>
              <a:t>Select the best-performing model. Save the trained model for deployment.</a:t>
            </a:r>
            <a:endParaRPr dirty="0"/>
          </a:p>
        </p:txBody>
      </p:sp>
      <p:pic>
        <p:nvPicPr>
          <p:cNvPr id="219" name="Google Shape;219;p2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21" name="Google Shape;221;p2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B656E-6BEC-4DA2-EDAC-80D00D477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751" y="796925"/>
            <a:ext cx="3996737" cy="5420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:3 </a:t>
            </a:r>
            <a:r>
              <a:rPr lang="en-IN" dirty="0"/>
              <a:t>Prediction &amp; Deployment</a:t>
            </a:r>
            <a:endParaRPr dirty="0"/>
          </a:p>
        </p:txBody>
      </p:sp>
      <p:sp>
        <p:nvSpPr>
          <p:cNvPr id="228" name="Google Shape;228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579853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website URL from the user. Extract real-time URL and webpage features.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 the extracted features. Predict whether the website is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(0–100)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 predictions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Explainable AI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through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Web Application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Extension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9" name="Google Shape;229;p27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31" name="Google Shape;231;p27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AE166-3197-377E-C50A-5CEDC4BF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770" y="1492369"/>
            <a:ext cx="4375030" cy="49343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dirty="0"/>
          </a:p>
        </p:txBody>
      </p:sp>
      <p:sp>
        <p:nvSpPr>
          <p:cNvPr id="238" name="Google Shape;238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 dirty="0"/>
          </a:p>
        </p:txBody>
      </p:sp>
      <p:pic>
        <p:nvPicPr>
          <p:cNvPr id="239" name="Google Shape;239;p28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41" name="Google Shape;241;p28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sp>
        <p:nvSpPr>
          <p:cNvPr id="248" name="Google Shape;24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POINT</a:t>
            </a:r>
            <a:endParaRPr/>
          </a:p>
        </p:txBody>
      </p:sp>
      <p:pic>
        <p:nvPicPr>
          <p:cNvPr id="249" name="Google Shape;249;p29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51" name="Google Shape;251;p29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title"/>
          </p:nvPr>
        </p:nvSpPr>
        <p:spPr>
          <a:xfrm>
            <a:off x="838200" y="27987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DEMO </a:t>
            </a:r>
            <a:endParaRPr/>
          </a:p>
        </p:txBody>
      </p:sp>
      <p:pic>
        <p:nvPicPr>
          <p:cNvPr id="189" name="Google Shape;189;p23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91" name="Google Shape;191;p2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310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THE RESEARCH </a:t>
            </a:r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body" idx="1"/>
          </p:nvPr>
        </p:nvSpPr>
        <p:spPr>
          <a:xfrm>
            <a:off x="769189" y="1601338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Banking &amp; Financial Security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phishing websites targeting online banking and digital payment platforms.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customers from credential theft and financial fraud. 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E-Commerce Platforms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fake shopping websites before users make transactions.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trust and reduce online payment scams. 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Enterprise Cybersecurity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organizational security systems to prevent employees from accessing malicious websites.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corporate cybersecurity policies. 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Browser Security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Chrome Extension to provide real-time phishing detection while browsing.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users instantly with risk scores and warning messages.</a:t>
            </a:r>
          </a:p>
        </p:txBody>
      </p:sp>
      <p:pic>
        <p:nvPicPr>
          <p:cNvPr id="180" name="Google Shape;180;p22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182" name="Google Shape;182;p22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395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intelligent phishing website detection system using Machine Learning.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data preprocessing, feature engineering, and model evaluation to build an effective prediction model. Integrated Explainable AI  to provide transparent and interpretable predictions.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the solution using 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backend, React web application, and Chrome Extension for real-time detection. </a:t>
            </a:r>
          </a:p>
          <a:p>
            <a:pPr marL="228600" lvl="0" indent="-2286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potential of AI-driven cybersecurity solutions for protecting users against phishing attacks.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9" name="Google Shape;269;p31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1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71" name="Google Shape;271;p31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72" name="Google Shape;272;p3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dirty="0"/>
          </a:p>
        </p:txBody>
      </p:sp>
      <p:sp>
        <p:nvSpPr>
          <p:cNvPr id="278" name="Google Shape;27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1800" b="1" dirty="0"/>
              <a:t>1. Deep Learning Integration</a:t>
            </a:r>
          </a:p>
          <a:p>
            <a:r>
              <a:rPr lang="en-IN" sz="1800" dirty="0"/>
              <a:t>Implement advanced Deep Learning models such as CNNs, LSTMs, or Transformers to improve phishing detection on more complex websites. </a:t>
            </a:r>
          </a:p>
          <a:p>
            <a:pPr marL="114300" indent="0">
              <a:buNone/>
            </a:pPr>
            <a:r>
              <a:rPr lang="en-IN" sz="1800" b="1" dirty="0"/>
              <a:t>2. Real-Time Threat Intelligence</a:t>
            </a:r>
          </a:p>
          <a:p>
            <a:r>
              <a:rPr lang="en-IN" sz="1800" dirty="0"/>
              <a:t>Integrate external cybersecurity threat feeds to continuously update phishing detection capabilities. </a:t>
            </a:r>
          </a:p>
          <a:p>
            <a:pPr marL="114300" indent="0">
              <a:buNone/>
            </a:pPr>
            <a:r>
              <a:rPr lang="en-IN" sz="1800" b="1" dirty="0"/>
              <a:t>3. Multi-Browser Extension Support</a:t>
            </a:r>
          </a:p>
          <a:p>
            <a:r>
              <a:rPr lang="en-IN" sz="1800" dirty="0"/>
              <a:t>Extend the solution beyond Google Chrome to support Microsoft Edge, Mozilla Firefox, and other Chromium-based browsers. </a:t>
            </a:r>
          </a:p>
          <a:p>
            <a:pPr marL="114300" indent="0">
              <a:buNone/>
            </a:pPr>
            <a:r>
              <a:rPr lang="en-IN" sz="1800" b="1" dirty="0"/>
              <a:t>4. Cloud-Based Deployment</a:t>
            </a:r>
          </a:p>
          <a:p>
            <a:r>
              <a:rPr lang="en-IN" sz="1800" dirty="0"/>
              <a:t>Deploy the application on cloud platforms such as AWS, Microsoft Azure, or Google Cloud for scalable and reliable access.</a:t>
            </a:r>
          </a:p>
        </p:txBody>
      </p:sp>
      <p:pic>
        <p:nvPicPr>
          <p:cNvPr id="279" name="Google Shape;279;p32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81" name="Google Shape;281;p32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82" name="Google Shape;282;p3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288" name="Google Shape;288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Zhu, Y. Zhang, and X. Liu,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PhiUSIIL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Phishing URL Dataset,"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Illinois, Public Cybersecurity Dataset, 2023.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F. Pedregosa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"Scikit-learn: Machine Learning in Python,"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Machine Learning Research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2825–2830, 2011. 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M. Lundberg and S.-I. Lee,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Unified Approach to Interpreting Model Predictions,"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Chen and C.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System,"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22nd ACM SIGKDD International Conference on Knowledge Discovery and Data Mining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785–794, 2016. 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"Random Forests,"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45, no. 1, pp. 5–32, 2001.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9" name="Google Shape;289;p33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291" name="Google Shape;291;p3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>
            <a:spLocks noGrp="1"/>
          </p:cNvSpPr>
          <p:nvPr>
            <p:ph type="title"/>
          </p:nvPr>
        </p:nvSpPr>
        <p:spPr>
          <a:xfrm>
            <a:off x="933450" y="2543175"/>
            <a:ext cx="10515600" cy="212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imes New Roman"/>
              <a:buNone/>
            </a:pPr>
            <a:r>
              <a:rPr lang="en-US" sz="7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/>
          </a:p>
        </p:txBody>
      </p:sp>
      <p:pic>
        <p:nvPicPr>
          <p:cNvPr id="298" name="Google Shape;298;p34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98989"/>
              </a:buClr>
              <a:buSzPts val="1200"/>
            </a:pPr>
            <a:r>
              <a:rPr lang="en-US" sz="1200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7/29/2026</a:t>
            </a:r>
            <a:endParaRPr lang="en-US" sz="1200" dirty="0"/>
          </a:p>
        </p:txBody>
      </p:sp>
      <p:sp>
        <p:nvSpPr>
          <p:cNvPr id="300" name="Google Shape;300;p3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301" name="Google Shape;301;p3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1254</Words>
  <Application>Microsoft Office PowerPoint</Application>
  <PresentationFormat>Widescreen</PresentationFormat>
  <Paragraphs>188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An Intelligent Phishing Website Detection System Using Machine Learning for Enhanced Web Security</vt:lpstr>
      <vt:lpstr>AGENDA </vt:lpstr>
      <vt:lpstr>ABSTRACT </vt:lpstr>
      <vt:lpstr>INTRODUCTION </vt:lpstr>
      <vt:lpstr>INTRODUCTION </vt:lpstr>
      <vt:lpstr>LITERATURE REVIEW </vt:lpstr>
      <vt:lpstr>PROBLEM STATEMENT </vt:lpstr>
      <vt:lpstr>OBJECTIVES OF THE CAPSTONE PROJECT </vt:lpstr>
      <vt:lpstr>PowerPoint Presentation</vt:lpstr>
      <vt:lpstr>DESCRIPTION ABOUT THE DATASETS USED</vt:lpstr>
      <vt:lpstr>Module 1: Data Collection &amp; Preprocessing</vt:lpstr>
      <vt:lpstr>Module : 2 Machine Learning  Model Development</vt:lpstr>
      <vt:lpstr>Module :3 Prediction &amp; Deployment</vt:lpstr>
      <vt:lpstr>RESULTS AND DISCUSSION</vt:lpstr>
      <vt:lpstr>RESULTS AND DISCUSSION</vt:lpstr>
      <vt:lpstr>PROJECT DEMO </vt:lpstr>
      <vt:lpstr>APPLICATIONS OF THE RESEARCH </vt:lpstr>
      <vt:lpstr>CONCLUSION</vt:lpstr>
      <vt:lpstr>FUTURE ENHANCEMENTS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SANHITH REDDY</dc:creator>
  <cp:lastModifiedBy>SANHITH THIKKAVARAPU</cp:lastModifiedBy>
  <cp:revision>6</cp:revision>
  <dcterms:modified xsi:type="dcterms:W3CDTF">2026-07-28T15:00:40Z</dcterms:modified>
</cp:coreProperties>
</file>